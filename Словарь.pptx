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11EBAF3-A3F5-49DE-9103-57D110C12CDD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2B723A0A-A8EC-458D-B307-65E8D182E4D6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79252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EBAF3-A3F5-49DE-9103-57D110C12CDD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23A0A-A8EC-458D-B307-65E8D182E4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212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EBAF3-A3F5-49DE-9103-57D110C12CDD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23A0A-A8EC-458D-B307-65E8D182E4D6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70536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EBAF3-A3F5-49DE-9103-57D110C12CDD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23A0A-A8EC-458D-B307-65E8D182E4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427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EBAF3-A3F5-49DE-9103-57D110C12CDD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23A0A-A8EC-458D-B307-65E8D182E4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498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EBAF3-A3F5-49DE-9103-57D110C12CDD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23A0A-A8EC-458D-B307-65E8D182E4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0621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EBAF3-A3F5-49DE-9103-57D110C12CDD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23A0A-A8EC-458D-B307-65E8D182E4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427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EBAF3-A3F5-49DE-9103-57D110C12CDD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23A0A-A8EC-458D-B307-65E8D182E4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252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EBAF3-A3F5-49DE-9103-57D110C12CDD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23A0A-A8EC-458D-B307-65E8D182E4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7446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EBAF3-A3F5-49DE-9103-57D110C12CDD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23A0A-A8EC-458D-B307-65E8D182E4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911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EBAF3-A3F5-49DE-9103-57D110C12CDD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23A0A-A8EC-458D-B307-65E8D182E4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1724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711EBAF3-A3F5-49DE-9103-57D110C12CDD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B723A0A-A8EC-458D-B307-65E8D182E4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5201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Устройство словаря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2021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Что такое Словарь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Это структура данных, которая хранит пары </a:t>
            </a:r>
            <a:r>
              <a:rPr lang="ru-RU" b="1" dirty="0"/>
              <a:t>«ключ → значение</a:t>
            </a:r>
            <a:r>
              <a:rPr lang="ru-RU" b="1" dirty="0" smtClean="0"/>
              <a:t>»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en-US" dirty="0"/>
              <a:t>Python: </a:t>
            </a:r>
            <a:r>
              <a:rPr lang="en-US" dirty="0" err="1" smtClean="0"/>
              <a:t>dict</a:t>
            </a:r>
            <a:endParaRPr lang="ru-RU" dirty="0" smtClean="0"/>
          </a:p>
          <a:p>
            <a:pPr marL="0" indent="0">
              <a:buNone/>
            </a:pPr>
            <a:r>
              <a:rPr lang="en-US" dirty="0"/>
              <a:t>Java: </a:t>
            </a:r>
            <a:r>
              <a:rPr lang="en-US" dirty="0" err="1"/>
              <a:t>HashMap</a:t>
            </a:r>
            <a:r>
              <a:rPr lang="en-US" dirty="0"/>
              <a:t>, </a:t>
            </a:r>
            <a:r>
              <a:rPr lang="en-US" dirty="0" err="1" smtClean="0"/>
              <a:t>TreeMap</a:t>
            </a:r>
            <a:endParaRPr lang="ru-RU" dirty="0" smtClean="0"/>
          </a:p>
          <a:p>
            <a:pPr marL="0" indent="0">
              <a:buNone/>
            </a:pPr>
            <a:r>
              <a:rPr lang="ru-RU" dirty="0"/>
              <a:t>Главная задача </a:t>
            </a:r>
            <a:r>
              <a:rPr lang="ru-RU" dirty="0" smtClean="0"/>
              <a:t>– </a:t>
            </a:r>
            <a:r>
              <a:rPr lang="ru-RU" dirty="0"/>
              <a:t>быстро найти значение по </a:t>
            </a:r>
            <a:r>
              <a:rPr lang="ru-RU" dirty="0" smtClean="0"/>
              <a:t>ключу.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2500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Как работает </a:t>
            </a:r>
            <a:r>
              <a:rPr lang="ru-RU" b="1" dirty="0" err="1"/>
              <a:t>Python</a:t>
            </a:r>
            <a:r>
              <a:rPr lang="ru-RU" b="1" dirty="0"/>
              <a:t> </a:t>
            </a:r>
            <a:r>
              <a:rPr lang="ru-RU" b="1" dirty="0" err="1" smtClean="0"/>
              <a:t>dict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Python</a:t>
            </a:r>
            <a:r>
              <a:rPr lang="ru-RU" dirty="0"/>
              <a:t> </a:t>
            </a:r>
            <a:r>
              <a:rPr lang="ru-RU" dirty="0" err="1"/>
              <a:t>dict</a:t>
            </a:r>
            <a:r>
              <a:rPr lang="ru-RU" dirty="0"/>
              <a:t> </a:t>
            </a:r>
            <a:r>
              <a:rPr lang="ru-RU" dirty="0" smtClean="0"/>
              <a:t>– </a:t>
            </a:r>
            <a:r>
              <a:rPr lang="ru-RU" dirty="0"/>
              <a:t>это хеш-таблица с открытой адресацией и двухуровневым хранением: сначала по </a:t>
            </a:r>
            <a:r>
              <a:rPr lang="ru-RU" dirty="0" err="1"/>
              <a:t>хешу</a:t>
            </a:r>
            <a:r>
              <a:rPr lang="ru-RU" dirty="0"/>
              <a:t> ищется индекс, потом </a:t>
            </a:r>
            <a:r>
              <a:rPr lang="ru-RU" dirty="0" smtClean="0"/>
              <a:t>– </a:t>
            </a:r>
            <a:r>
              <a:rPr lang="ru-RU" dirty="0"/>
              <a:t>данные в отдельном </a:t>
            </a:r>
            <a:r>
              <a:rPr lang="ru-RU" dirty="0" smtClean="0"/>
              <a:t>плотном </a:t>
            </a:r>
            <a:r>
              <a:rPr lang="ru-RU" dirty="0"/>
              <a:t>массиве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/>
              <a:t>Устройство</a:t>
            </a:r>
            <a:r>
              <a:rPr lang="ru-RU" dirty="0" smtClean="0"/>
              <a:t>: </a:t>
            </a:r>
          </a:p>
          <a:p>
            <a:pPr marL="0" indent="0">
              <a:buNone/>
            </a:pPr>
            <a:r>
              <a:rPr lang="ru-RU" dirty="0" smtClean="0"/>
              <a:t>1. </a:t>
            </a:r>
            <a:r>
              <a:rPr lang="ru-RU" dirty="0"/>
              <a:t>Есть массив (список) «корзин</a:t>
            </a:r>
            <a:r>
              <a:rPr lang="ru-RU" dirty="0" smtClean="0"/>
              <a:t>».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2</a:t>
            </a:r>
            <a:r>
              <a:rPr lang="ru-RU" dirty="0"/>
              <a:t>. У ключа берётся </a:t>
            </a:r>
            <a:r>
              <a:rPr lang="ru-RU" dirty="0" err="1"/>
              <a:t>хеш</a:t>
            </a:r>
            <a:r>
              <a:rPr lang="ru-RU" dirty="0"/>
              <a:t> </a:t>
            </a:r>
            <a:r>
              <a:rPr lang="ru-RU" dirty="0" err="1" smtClean="0"/>
              <a:t>hash</a:t>
            </a:r>
            <a:r>
              <a:rPr lang="ru-RU" dirty="0" smtClean="0"/>
              <a:t>(</a:t>
            </a:r>
            <a:r>
              <a:rPr lang="ru-RU" dirty="0" err="1" smtClean="0"/>
              <a:t>key</a:t>
            </a:r>
            <a:r>
              <a:rPr lang="ru-RU" dirty="0" smtClean="0"/>
              <a:t>).</a:t>
            </a:r>
          </a:p>
          <a:p>
            <a:pPr marL="0" indent="0">
              <a:buNone/>
            </a:pPr>
            <a:r>
              <a:rPr lang="ru-RU" dirty="0"/>
              <a:t>3. Вычисляется индекс: </a:t>
            </a:r>
            <a:r>
              <a:rPr lang="en-US" dirty="0"/>
              <a:t>index = hash % </a:t>
            </a:r>
            <a:r>
              <a:rPr lang="en-US" dirty="0" err="1"/>
              <a:t>len</a:t>
            </a:r>
            <a:r>
              <a:rPr lang="en-US" dirty="0"/>
              <a:t>(array</a:t>
            </a:r>
            <a:r>
              <a:rPr lang="en-US" dirty="0" smtClean="0"/>
              <a:t>).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4. </a:t>
            </a:r>
            <a:r>
              <a:rPr lang="ru-RU" dirty="0"/>
              <a:t>Если корзина пуста </a:t>
            </a:r>
            <a:r>
              <a:rPr lang="ru-RU" dirty="0" smtClean="0"/>
              <a:t>– </a:t>
            </a:r>
            <a:r>
              <a:rPr lang="ru-RU" dirty="0"/>
              <a:t>кладём туда пару.</a:t>
            </a:r>
          </a:p>
          <a:p>
            <a:pPr marL="0" indent="0">
              <a:buNone/>
            </a:pPr>
            <a:r>
              <a:rPr lang="ru-RU" dirty="0" smtClean="0"/>
              <a:t>5. </a:t>
            </a:r>
            <a:r>
              <a:rPr lang="ru-RU" dirty="0"/>
              <a:t>Если </a:t>
            </a:r>
            <a:r>
              <a:rPr lang="ru-RU" dirty="0" smtClean="0"/>
              <a:t>занята – </a:t>
            </a:r>
            <a:r>
              <a:rPr lang="ru-RU" dirty="0"/>
              <a:t>используется открытая адресация (ищет следующую пустую</a:t>
            </a:r>
            <a:r>
              <a:rPr lang="ru-RU" dirty="0" smtClean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7118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Использование дерева в </a:t>
            </a:r>
            <a:r>
              <a:rPr lang="ru-RU" b="1" dirty="0" err="1"/>
              <a:t>HashMap</a:t>
            </a:r>
            <a:r>
              <a:rPr lang="ru-RU" b="1" dirty="0"/>
              <a:t> (</a:t>
            </a:r>
            <a:r>
              <a:rPr lang="ru-RU" b="1" dirty="0" err="1"/>
              <a:t>Java</a:t>
            </a:r>
            <a:r>
              <a:rPr lang="ru-RU" b="1" dirty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Java</a:t>
            </a:r>
            <a:r>
              <a:rPr lang="ru-RU" dirty="0"/>
              <a:t> </a:t>
            </a:r>
            <a:r>
              <a:rPr lang="ru-RU" dirty="0" err="1"/>
              <a:t>HashMap</a:t>
            </a:r>
            <a:r>
              <a:rPr lang="ru-RU" dirty="0"/>
              <a:t> </a:t>
            </a:r>
            <a:r>
              <a:rPr lang="ru-RU" dirty="0" smtClean="0"/>
              <a:t>– </a:t>
            </a:r>
            <a:r>
              <a:rPr lang="ru-RU" dirty="0"/>
              <a:t>это хеш-таблица, которая при коллизиях использует связный список, а при большом количестве элементов </a:t>
            </a:r>
            <a:r>
              <a:rPr lang="ru-RU" dirty="0" smtClean="0"/>
              <a:t>– </a:t>
            </a:r>
            <a:r>
              <a:rPr lang="ru-RU" dirty="0"/>
              <a:t>красно-чёрное </a:t>
            </a:r>
            <a:r>
              <a:rPr lang="ru-RU" dirty="0" smtClean="0"/>
              <a:t>дерево</a:t>
            </a:r>
          </a:p>
          <a:p>
            <a:pPr marL="0" indent="0">
              <a:buNone/>
            </a:pPr>
            <a:r>
              <a:rPr lang="ru-RU" dirty="0"/>
              <a:t>Устройство</a:t>
            </a:r>
            <a:r>
              <a:rPr lang="ru-RU" dirty="0" smtClean="0"/>
              <a:t>:</a:t>
            </a:r>
          </a:p>
          <a:p>
            <a:pPr marL="0" indent="0">
              <a:buNone/>
            </a:pPr>
            <a:r>
              <a:rPr lang="ru-RU" dirty="0" smtClean="0"/>
              <a:t>Если корзина занята – </a:t>
            </a:r>
            <a:r>
              <a:rPr lang="ru-RU" dirty="0"/>
              <a:t>добавляем в связный </a:t>
            </a:r>
            <a:r>
              <a:rPr lang="ru-RU" dirty="0" smtClean="0"/>
              <a:t>список</a:t>
            </a:r>
          </a:p>
          <a:p>
            <a:pPr marL="0" indent="0">
              <a:buNone/>
            </a:pPr>
            <a:r>
              <a:rPr lang="ru-RU" dirty="0"/>
              <a:t>Если в списке стало 8 и больше элементов → список превращается в красно-чёрное </a:t>
            </a:r>
            <a:r>
              <a:rPr lang="ru-RU" dirty="0" smtClean="0"/>
              <a:t>дерево</a:t>
            </a:r>
          </a:p>
          <a:p>
            <a:pPr marL="0" indent="0">
              <a:buNone/>
            </a:pPr>
            <a:r>
              <a:rPr lang="ru-RU" dirty="0"/>
              <a:t>Если элементов стало 6 или меньше → дерево превращается обратно в список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b="1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 smtClean="0"/>
          </a:p>
          <a:p>
            <a:pPr marL="342900" indent="-34290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3449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Зачем нужно дерево?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списке элементы ищутся по очереди </a:t>
            </a:r>
            <a:r>
              <a:rPr lang="ru-RU" dirty="0" smtClean="0"/>
              <a:t>– </a:t>
            </a:r>
            <a:r>
              <a:rPr lang="ru-RU" dirty="0"/>
              <a:t>чем больше элементов, тем дольше.</a:t>
            </a:r>
          </a:p>
          <a:p>
            <a:r>
              <a:rPr lang="ru-RU" dirty="0"/>
              <a:t>В дереве с каждым шагом поиска отпадает половина вариантов. Даже если элементов очень много, поиск занимает всего несколько шагов. Это работает значительно быстрее.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9447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 добавления и удаления в словаре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352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 работы дерева внутри словаря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976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6943" y="2337683"/>
            <a:ext cx="9692640" cy="1325562"/>
          </a:xfrm>
        </p:spPr>
        <p:txBody>
          <a:bodyPr/>
          <a:lstStyle/>
          <a:p>
            <a:pPr algn="ctr"/>
            <a:r>
              <a:rPr lang="ru-RU" b="1" dirty="0" smtClean="0"/>
              <a:t>Спасибо за внимание !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164007438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83</TotalTime>
  <Words>185</Words>
  <Application>Microsoft Office PowerPoint</Application>
  <PresentationFormat>Широкоэкранный</PresentationFormat>
  <Paragraphs>30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Century Schoolbook</vt:lpstr>
      <vt:lpstr>Wingdings 2</vt:lpstr>
      <vt:lpstr>View</vt:lpstr>
      <vt:lpstr>Устройство словаря</vt:lpstr>
      <vt:lpstr>Что такое Словарь</vt:lpstr>
      <vt:lpstr>Как работает Python dict</vt:lpstr>
      <vt:lpstr>Использование дерева в HashMap (Java)</vt:lpstr>
      <vt:lpstr>Зачем нужно дерево?</vt:lpstr>
      <vt:lpstr>Пример добавления и удаления в словаре</vt:lpstr>
      <vt:lpstr>Пример работы дерева внутри словаря</vt:lpstr>
      <vt:lpstr>Спасибо за внимание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Устройство словаря</dc:title>
  <dc:creator>Академик</dc:creator>
  <cp:lastModifiedBy>Академик</cp:lastModifiedBy>
  <cp:revision>9</cp:revision>
  <dcterms:created xsi:type="dcterms:W3CDTF">2026-04-29T06:21:09Z</dcterms:created>
  <dcterms:modified xsi:type="dcterms:W3CDTF">2026-04-29T07:44:12Z</dcterms:modified>
</cp:coreProperties>
</file>