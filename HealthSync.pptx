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4150"/>
    <a:srgbClr val="124E73"/>
    <a:srgbClr val="568F8E"/>
    <a:srgbClr val="4A909A"/>
    <a:srgbClr val="469E98"/>
    <a:srgbClr val="317EB3"/>
    <a:srgbClr val="3791AD"/>
    <a:srgbClr val="39A0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16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607AD-33AB-4D52-ADED-040EEE9B0A54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C2C53-ABD4-47DE-A26E-D34A4D573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1564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607AD-33AB-4D52-ADED-040EEE9B0A54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C2C53-ABD4-47DE-A26E-D34A4D573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4291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607AD-33AB-4D52-ADED-040EEE9B0A54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C2C53-ABD4-47DE-A26E-D34A4D573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5448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607AD-33AB-4D52-ADED-040EEE9B0A54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C2C53-ABD4-47DE-A26E-D34A4D573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1147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607AD-33AB-4D52-ADED-040EEE9B0A54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C2C53-ABD4-47DE-A26E-D34A4D573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8380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607AD-33AB-4D52-ADED-040EEE9B0A54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C2C53-ABD4-47DE-A26E-D34A4D573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2401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607AD-33AB-4D52-ADED-040EEE9B0A54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C2C53-ABD4-47DE-A26E-D34A4D573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0339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607AD-33AB-4D52-ADED-040EEE9B0A54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C2C53-ABD4-47DE-A26E-D34A4D573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5509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607AD-33AB-4D52-ADED-040EEE9B0A54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C2C53-ABD4-47DE-A26E-D34A4D573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8011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607AD-33AB-4D52-ADED-040EEE9B0A54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C2C53-ABD4-47DE-A26E-D34A4D573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6082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607AD-33AB-4D52-ADED-040EEE9B0A54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C2C53-ABD4-47DE-A26E-D34A4D573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9572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2607AD-33AB-4D52-ADED-040EEE9B0A54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BC2C53-ABD4-47DE-A26E-D34A4D573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2396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124E73"/>
                </a:solidFill>
              </a:rPr>
              <a:t>Health Sync</a:t>
            </a:r>
            <a:br>
              <a:rPr lang="en-US" dirty="0" smtClean="0">
                <a:solidFill>
                  <a:srgbClr val="124E73"/>
                </a:solidFill>
              </a:rPr>
            </a:br>
            <a:r>
              <a:rPr lang="ru-RU" dirty="0" smtClean="0">
                <a:solidFill>
                  <a:srgbClr val="124E73"/>
                </a:solidFill>
              </a:rPr>
              <a:t>«Дневник здоровья»</a:t>
            </a:r>
            <a:endParaRPr lang="ru-RU" dirty="0">
              <a:solidFill>
                <a:srgbClr val="124E73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4951926"/>
            <a:ext cx="9144000" cy="972355"/>
          </a:xfrm>
        </p:spPr>
        <p:txBody>
          <a:bodyPr/>
          <a:lstStyle/>
          <a:p>
            <a:r>
              <a:rPr lang="ru-RU" dirty="0" smtClean="0">
                <a:solidFill>
                  <a:srgbClr val="2B4150"/>
                </a:solidFill>
              </a:rPr>
              <a:t>Капустин Даниил</a:t>
            </a:r>
          </a:p>
          <a:p>
            <a:r>
              <a:rPr lang="ru-RU" dirty="0" smtClean="0">
                <a:solidFill>
                  <a:srgbClr val="2B4150"/>
                </a:solidFill>
              </a:rPr>
              <a:t>9/2-РПО-24/1</a:t>
            </a:r>
          </a:p>
        </p:txBody>
      </p:sp>
    </p:spTree>
    <p:extLst>
      <p:ext uri="{BB962C8B-B14F-4D97-AF65-F5344CB8AC3E}">
        <p14:creationId xmlns:p14="http://schemas.microsoft.com/office/powerpoint/2010/main" val="2901652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124E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</a:t>
            </a:r>
            <a:endParaRPr lang="ru-RU" dirty="0">
              <a:solidFill>
                <a:srgbClr val="124E7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smtClean="0">
                <a:solidFill>
                  <a:srgbClr val="2B4150"/>
                </a:solidFill>
              </a:rPr>
              <a:t>Люди хотят следить за здоровьем, но сталкиваются с несколькими проблемами.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>
                <a:solidFill>
                  <a:srgbClr val="2B4150"/>
                </a:solidFill>
              </a:rPr>
              <a:t>данные </a:t>
            </a:r>
            <a:r>
              <a:rPr lang="ru-RU" dirty="0">
                <a:solidFill>
                  <a:srgbClr val="2B4150"/>
                </a:solidFill>
              </a:rPr>
              <a:t>хранятся в разных </a:t>
            </a:r>
            <a:r>
              <a:rPr lang="ru-RU" dirty="0" smtClean="0">
                <a:solidFill>
                  <a:srgbClr val="2B4150"/>
                </a:solidFill>
              </a:rPr>
              <a:t>местах</a:t>
            </a:r>
            <a:r>
              <a:rPr lang="ru-RU" dirty="0" smtClean="0">
                <a:solidFill>
                  <a:srgbClr val="2B4150"/>
                </a:solidFill>
              </a:rPr>
              <a:t>: </a:t>
            </a:r>
            <a:r>
              <a:rPr lang="ru-RU" dirty="0" smtClean="0">
                <a:solidFill>
                  <a:srgbClr val="2B4150"/>
                </a:solidFill>
              </a:rPr>
              <a:t>шаги в одном приложении, давление в блокноте, сон вообще не отслеживается.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>
                <a:solidFill>
                  <a:srgbClr val="2B4150"/>
                </a:solidFill>
              </a:rPr>
              <a:t>нет мотивации </a:t>
            </a:r>
            <a:r>
              <a:rPr lang="en-US" dirty="0" smtClean="0">
                <a:solidFill>
                  <a:srgbClr val="2B4150"/>
                </a:solidFill>
              </a:rPr>
              <a:t>–</a:t>
            </a:r>
            <a:r>
              <a:rPr lang="ru-RU" dirty="0" smtClean="0">
                <a:solidFill>
                  <a:srgbClr val="2B4150"/>
                </a:solidFill>
              </a:rPr>
              <a:t> сложно понять, улучшаешь ты свои показатели или нет.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>
                <a:solidFill>
                  <a:srgbClr val="2B4150"/>
                </a:solidFill>
              </a:rPr>
              <a:t>нет понятной обратной связи </a:t>
            </a:r>
            <a:r>
              <a:rPr lang="en-US" dirty="0" smtClean="0">
                <a:solidFill>
                  <a:srgbClr val="2B4150"/>
                </a:solidFill>
              </a:rPr>
              <a:t>– </a:t>
            </a:r>
            <a:r>
              <a:rPr lang="ru-RU" dirty="0" smtClean="0">
                <a:solidFill>
                  <a:srgbClr val="2B4150"/>
                </a:solidFill>
              </a:rPr>
              <a:t>человек не видит, как его образ жизни влияет на организм. </a:t>
            </a:r>
          </a:p>
          <a:p>
            <a:pPr marL="0" indent="0">
              <a:buNone/>
            </a:pPr>
            <a:r>
              <a:rPr lang="ru-RU" dirty="0" smtClean="0">
                <a:solidFill>
                  <a:srgbClr val="2B4150"/>
                </a:solidFill>
              </a:rPr>
              <a:t>В итоге </a:t>
            </a:r>
            <a:r>
              <a:rPr lang="en-US" dirty="0" smtClean="0">
                <a:solidFill>
                  <a:srgbClr val="2B4150"/>
                </a:solidFill>
              </a:rPr>
              <a:t>–</a:t>
            </a:r>
            <a:r>
              <a:rPr lang="ru-RU" dirty="0" smtClean="0">
                <a:solidFill>
                  <a:srgbClr val="2B4150"/>
                </a:solidFill>
              </a:rPr>
              <a:t> пропущенные симптомы, лишний вес, проблемы с сердцем и отсутствие привычки заботиться о себе.</a:t>
            </a:r>
            <a:endParaRPr lang="ru-RU" dirty="0">
              <a:solidFill>
                <a:srgbClr val="2B41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5597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124E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решения</a:t>
            </a:r>
            <a:endParaRPr lang="ru-RU" dirty="0">
              <a:solidFill>
                <a:srgbClr val="124E7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err="1">
                <a:solidFill>
                  <a:srgbClr val="2B4150"/>
                </a:solidFill>
              </a:rPr>
              <a:t>HealthSync</a:t>
            </a:r>
            <a:r>
              <a:rPr lang="ru-RU" dirty="0">
                <a:solidFill>
                  <a:srgbClr val="2B4150"/>
                </a:solidFill>
              </a:rPr>
              <a:t> </a:t>
            </a:r>
            <a:r>
              <a:rPr lang="en-US" dirty="0" smtClean="0">
                <a:solidFill>
                  <a:srgbClr val="2B4150"/>
                </a:solidFill>
              </a:rPr>
              <a:t>–</a:t>
            </a:r>
            <a:r>
              <a:rPr lang="ru-RU" dirty="0" smtClean="0">
                <a:solidFill>
                  <a:srgbClr val="2B4150"/>
                </a:solidFill>
              </a:rPr>
              <a:t> </a:t>
            </a:r>
            <a:r>
              <a:rPr lang="ru-RU" dirty="0">
                <a:solidFill>
                  <a:srgbClr val="2B4150"/>
                </a:solidFill>
              </a:rPr>
              <a:t>это единый центр здоровья, который объединяет все метрики в одном месте. Приложение позволяет отслеживать шаги, воду, сон, калории, пульс и давление, автоматически рассчитывает ИМТ и биологический возраст, показывает реальное состояние организма. Система наград </a:t>
            </a:r>
            <a:r>
              <a:rPr lang="ru-RU" dirty="0" err="1">
                <a:solidFill>
                  <a:srgbClr val="2B4150"/>
                </a:solidFill>
              </a:rPr>
              <a:t>SyncCoins</a:t>
            </a:r>
            <a:r>
              <a:rPr lang="ru-RU" dirty="0">
                <a:solidFill>
                  <a:srgbClr val="2B4150"/>
                </a:solidFill>
              </a:rPr>
              <a:t> мотивирует достигать ежедневные цели, а персонализированные рекомендации помогают скорректировать образ жизни. Доступно на десктопе и </a:t>
            </a:r>
            <a:r>
              <a:rPr lang="ru-RU" dirty="0" err="1">
                <a:solidFill>
                  <a:srgbClr val="2B4150"/>
                </a:solidFill>
              </a:rPr>
              <a:t>Android</a:t>
            </a:r>
            <a:r>
              <a:rPr lang="ru-RU" dirty="0">
                <a:solidFill>
                  <a:srgbClr val="2B415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7526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124E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Технологии</a:t>
            </a:r>
            <a:endParaRPr lang="ru-RU" dirty="0">
              <a:solidFill>
                <a:srgbClr val="124E7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solidFill>
                  <a:srgbClr val="2B4150"/>
                </a:solidFill>
              </a:rPr>
              <a:t>Десктоп: .</a:t>
            </a:r>
            <a:r>
              <a:rPr lang="en-US" dirty="0" smtClean="0">
                <a:solidFill>
                  <a:srgbClr val="2B4150"/>
                </a:solidFill>
              </a:rPr>
              <a:t>NET 8 + WPF</a:t>
            </a:r>
          </a:p>
          <a:p>
            <a:r>
              <a:rPr lang="ru-RU" dirty="0" smtClean="0">
                <a:solidFill>
                  <a:srgbClr val="2B4150"/>
                </a:solidFill>
              </a:rPr>
              <a:t>Мобильное: </a:t>
            </a:r>
            <a:r>
              <a:rPr lang="en-US" dirty="0" smtClean="0">
                <a:solidFill>
                  <a:srgbClr val="2B4150"/>
                </a:solidFill>
              </a:rPr>
              <a:t>Android (Java)</a:t>
            </a:r>
          </a:p>
          <a:p>
            <a:r>
              <a:rPr lang="en-US" dirty="0" smtClean="0">
                <a:solidFill>
                  <a:srgbClr val="2B4150"/>
                </a:solidFill>
              </a:rPr>
              <a:t>JSON: </a:t>
            </a:r>
            <a:r>
              <a:rPr lang="en-US" dirty="0" err="1" smtClean="0">
                <a:solidFill>
                  <a:srgbClr val="2B4150"/>
                </a:solidFill>
              </a:rPr>
              <a:t>Newtonsoft.Json</a:t>
            </a:r>
            <a:endParaRPr lang="en-US" dirty="0" smtClean="0">
              <a:solidFill>
                <a:srgbClr val="2B4150"/>
              </a:solidFill>
            </a:endParaRPr>
          </a:p>
          <a:p>
            <a:r>
              <a:rPr lang="ru-RU" dirty="0" smtClean="0">
                <a:solidFill>
                  <a:srgbClr val="2B4150"/>
                </a:solidFill>
              </a:rPr>
              <a:t>База данных: </a:t>
            </a:r>
            <a:r>
              <a:rPr lang="en-US" dirty="0" smtClean="0">
                <a:solidFill>
                  <a:srgbClr val="2B4150"/>
                </a:solidFill>
              </a:rPr>
              <a:t>PostgreSQL</a:t>
            </a:r>
          </a:p>
          <a:p>
            <a:r>
              <a:rPr lang="ru-RU" dirty="0" smtClean="0">
                <a:solidFill>
                  <a:srgbClr val="2B4150"/>
                </a:solidFill>
              </a:rPr>
              <a:t>Погода: </a:t>
            </a:r>
            <a:r>
              <a:rPr lang="en-US" dirty="0" smtClean="0">
                <a:solidFill>
                  <a:srgbClr val="2B4150"/>
                </a:solidFill>
              </a:rPr>
              <a:t>Open-</a:t>
            </a:r>
            <a:r>
              <a:rPr lang="en-US" dirty="0" err="1" smtClean="0">
                <a:solidFill>
                  <a:srgbClr val="2B4150"/>
                </a:solidFill>
              </a:rPr>
              <a:t>Meteo</a:t>
            </a:r>
            <a:r>
              <a:rPr lang="en-US" dirty="0" smtClean="0">
                <a:solidFill>
                  <a:srgbClr val="2B4150"/>
                </a:solidFill>
              </a:rPr>
              <a:t> API</a:t>
            </a:r>
            <a:endParaRPr lang="ru-RU" dirty="0">
              <a:solidFill>
                <a:srgbClr val="2B41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9608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124E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 д</a:t>
            </a:r>
            <a:r>
              <a:rPr lang="ru-RU" dirty="0" smtClean="0">
                <a:solidFill>
                  <a:srgbClr val="124E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анных</a:t>
            </a:r>
            <a:endParaRPr lang="ru-RU" dirty="0">
              <a:solidFill>
                <a:srgbClr val="124E7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7920789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>
                <a:solidFill>
                  <a:srgbClr val="2B4150"/>
                </a:solidFill>
              </a:rPr>
              <a:t>В основе базы данных – пользователь. У каждого есть личные данные: рост, вес, возраст, пол. Ежедневные метрики: шаги, вода, сон, калории, пульс, давление. Также хранятся цели – дневные нормы, и история за 7 дней для отслеживания прогресса. Отдельно сохраняются настройки: город для погоды</a:t>
            </a:r>
            <a:r>
              <a:rPr lang="ru-RU" dirty="0" smtClean="0">
                <a:solidFill>
                  <a:srgbClr val="2B4150"/>
                </a:solidFill>
              </a:rPr>
              <a:t>, </a:t>
            </a:r>
            <a:r>
              <a:rPr lang="ru-RU" dirty="0" smtClean="0">
                <a:solidFill>
                  <a:srgbClr val="2B4150"/>
                </a:solidFill>
              </a:rPr>
              <a:t>уведомления. </a:t>
            </a:r>
            <a:r>
              <a:rPr lang="ru-RU" dirty="0">
                <a:solidFill>
                  <a:srgbClr val="2B4150"/>
                </a:solidFill>
              </a:rPr>
              <a:t>Все данные централизованно хранятся </a:t>
            </a:r>
            <a:r>
              <a:rPr lang="ru-RU" dirty="0" smtClean="0">
                <a:solidFill>
                  <a:srgbClr val="2B4150"/>
                </a:solidFill>
              </a:rPr>
              <a:t>в</a:t>
            </a:r>
            <a:r>
              <a:rPr lang="en-US" dirty="0" smtClean="0">
                <a:solidFill>
                  <a:srgbClr val="2B4150"/>
                </a:solidFill>
              </a:rPr>
              <a:t> </a:t>
            </a:r>
            <a:r>
              <a:rPr lang="ru-RU" dirty="0" smtClean="0">
                <a:solidFill>
                  <a:srgbClr val="2B4150"/>
                </a:solidFill>
              </a:rPr>
              <a:t>базе данных </a:t>
            </a:r>
            <a:r>
              <a:rPr lang="ru-RU" dirty="0" err="1">
                <a:solidFill>
                  <a:srgbClr val="2B4150"/>
                </a:solidFill>
              </a:rPr>
              <a:t>PostgreSQL</a:t>
            </a:r>
            <a:r>
              <a:rPr lang="ru-RU" dirty="0">
                <a:solidFill>
                  <a:srgbClr val="2B4150"/>
                </a:solidFill>
              </a:rPr>
              <a:t>. Сборка проекта автоматизирована.</a:t>
            </a:r>
            <a:endParaRPr lang="ru-RU" dirty="0">
              <a:solidFill>
                <a:srgbClr val="2B415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7233" y="2411995"/>
            <a:ext cx="2476567" cy="2196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820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124E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Сервер</a:t>
            </a:r>
            <a:endParaRPr lang="ru-RU" dirty="0">
              <a:solidFill>
                <a:srgbClr val="124E7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>
                <a:solidFill>
                  <a:srgbClr val="2B4150"/>
                </a:solidFill>
              </a:rPr>
              <a:t>Сервер написан на </a:t>
            </a:r>
            <a:r>
              <a:rPr lang="ru-RU" dirty="0" err="1" smtClean="0">
                <a:solidFill>
                  <a:srgbClr val="2B4150"/>
                </a:solidFill>
              </a:rPr>
              <a:t>FastAPI</a:t>
            </a:r>
            <a:r>
              <a:rPr lang="ru-RU" dirty="0" smtClean="0">
                <a:solidFill>
                  <a:srgbClr val="2B4150"/>
                </a:solidFill>
              </a:rPr>
              <a:t> с </a:t>
            </a:r>
            <a:r>
              <a:rPr lang="ru-RU" dirty="0" err="1" smtClean="0">
                <a:solidFill>
                  <a:srgbClr val="2B4150"/>
                </a:solidFill>
              </a:rPr>
              <a:t>PostgreSQL</a:t>
            </a:r>
            <a:r>
              <a:rPr lang="ru-RU" dirty="0" smtClean="0">
                <a:solidFill>
                  <a:srgbClr val="2B4150"/>
                </a:solidFill>
              </a:rPr>
              <a:t>. Предоставляет REST API для регистрации и входа пользователей, сохранения и получения метрик, обновления целей и настроек. Пароли </a:t>
            </a:r>
            <a:r>
              <a:rPr lang="ru-RU" dirty="0" err="1" smtClean="0">
                <a:solidFill>
                  <a:srgbClr val="2B4150"/>
                </a:solidFill>
              </a:rPr>
              <a:t>хешируются</a:t>
            </a:r>
            <a:r>
              <a:rPr lang="ru-RU" dirty="0" smtClean="0">
                <a:solidFill>
                  <a:srgbClr val="2B4150"/>
                </a:solidFill>
              </a:rPr>
              <a:t> </a:t>
            </a:r>
            <a:r>
              <a:rPr lang="ru-RU" dirty="0" err="1" smtClean="0">
                <a:solidFill>
                  <a:srgbClr val="2B4150"/>
                </a:solidFill>
              </a:rPr>
              <a:t>bcrypt</a:t>
            </a:r>
            <a:r>
              <a:rPr lang="ru-RU" dirty="0" smtClean="0">
                <a:solidFill>
                  <a:srgbClr val="2B4150"/>
                </a:solidFill>
              </a:rPr>
              <a:t>. Документация – через </a:t>
            </a:r>
            <a:r>
              <a:rPr lang="ru-RU" dirty="0" err="1" smtClean="0">
                <a:solidFill>
                  <a:srgbClr val="2B4150"/>
                </a:solidFill>
              </a:rPr>
              <a:t>Swagger</a:t>
            </a:r>
            <a:r>
              <a:rPr lang="ru-RU" dirty="0" smtClean="0">
                <a:solidFill>
                  <a:srgbClr val="2B4150"/>
                </a:solidFill>
              </a:rPr>
              <a:t>.</a:t>
            </a:r>
            <a:endParaRPr lang="ru-RU" dirty="0">
              <a:solidFill>
                <a:srgbClr val="2B415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2828" y="5024117"/>
            <a:ext cx="6226343" cy="115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286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124E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Клиент</a:t>
            </a:r>
            <a:endParaRPr lang="ru-RU" dirty="0">
              <a:solidFill>
                <a:srgbClr val="124E7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err="1" smtClean="0">
                <a:solidFill>
                  <a:srgbClr val="2B4150"/>
                </a:solidFill>
              </a:rPr>
              <a:t>Десктопное</a:t>
            </a:r>
            <a:r>
              <a:rPr lang="ru-RU" dirty="0" smtClean="0">
                <a:solidFill>
                  <a:srgbClr val="2B4150"/>
                </a:solidFill>
              </a:rPr>
              <a:t> приложение на WPF имеет </a:t>
            </a:r>
            <a:r>
              <a:rPr lang="ru-RU" dirty="0" err="1" smtClean="0">
                <a:solidFill>
                  <a:srgbClr val="2B4150"/>
                </a:solidFill>
              </a:rPr>
              <a:t>трёхпанельный</a:t>
            </a:r>
            <a:r>
              <a:rPr lang="ru-RU" dirty="0" smtClean="0">
                <a:solidFill>
                  <a:srgbClr val="2B4150"/>
                </a:solidFill>
              </a:rPr>
              <a:t> интерфейс: слева личные данные и показатели здоровья, в центре график активности и цели на сегодня, справа погода, прогноз возраста и история действий. Мобильное приложение на </a:t>
            </a:r>
            <a:r>
              <a:rPr lang="ru-RU" dirty="0" err="1" smtClean="0">
                <a:solidFill>
                  <a:srgbClr val="2B4150"/>
                </a:solidFill>
              </a:rPr>
              <a:t>Android</a:t>
            </a:r>
            <a:r>
              <a:rPr lang="ru-RU" dirty="0" smtClean="0">
                <a:solidFill>
                  <a:srgbClr val="2B4150"/>
                </a:solidFill>
              </a:rPr>
              <a:t> повторяет ту же логику, адаптированную под экран смартфона. Обе версии поддерживают быстрый ввод, откат действий, настройку целей и систему наград.</a:t>
            </a:r>
            <a:endParaRPr lang="ru-RU" dirty="0">
              <a:solidFill>
                <a:srgbClr val="2B41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0424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124E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Интеграции</a:t>
            </a:r>
            <a:endParaRPr lang="ru-RU" dirty="0">
              <a:solidFill>
                <a:srgbClr val="124E7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>
                <a:solidFill>
                  <a:srgbClr val="2B4150"/>
                </a:solidFill>
              </a:rPr>
              <a:t>На данный момент интегрировано с </a:t>
            </a:r>
            <a:r>
              <a:rPr lang="ru-RU" dirty="0" err="1" smtClean="0">
                <a:solidFill>
                  <a:srgbClr val="2B4150"/>
                </a:solidFill>
              </a:rPr>
              <a:t>Open-Meteo</a:t>
            </a:r>
            <a:r>
              <a:rPr lang="ru-RU" dirty="0" smtClean="0">
                <a:solidFill>
                  <a:srgbClr val="2B4150"/>
                </a:solidFill>
              </a:rPr>
              <a:t> API для погоды. В планах</a:t>
            </a:r>
            <a:r>
              <a:rPr lang="ru-RU" dirty="0" smtClean="0">
                <a:solidFill>
                  <a:srgbClr val="2B4150"/>
                </a:solidFill>
              </a:rPr>
              <a:t>: </a:t>
            </a:r>
            <a:r>
              <a:rPr lang="ru-RU" dirty="0" smtClean="0">
                <a:solidFill>
                  <a:srgbClr val="2B4150"/>
                </a:solidFill>
              </a:rPr>
              <a:t>фитнес-</a:t>
            </a:r>
            <a:r>
              <a:rPr lang="ru-RU" dirty="0" err="1" smtClean="0">
                <a:solidFill>
                  <a:srgbClr val="2B4150"/>
                </a:solidFill>
              </a:rPr>
              <a:t>трекеры</a:t>
            </a:r>
            <a:r>
              <a:rPr lang="ru-RU" dirty="0" smtClean="0">
                <a:solidFill>
                  <a:srgbClr val="2B4150"/>
                </a:solidFill>
              </a:rPr>
              <a:t>.</a:t>
            </a:r>
            <a:endParaRPr lang="ru-RU" dirty="0">
              <a:solidFill>
                <a:srgbClr val="2B41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0988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124E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</a:t>
            </a:r>
            <a:endParaRPr lang="ru-RU" dirty="0">
              <a:solidFill>
                <a:srgbClr val="124E7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83882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124E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</a:t>
            </a:r>
            <a:endParaRPr lang="ru-RU" dirty="0">
              <a:solidFill>
                <a:srgbClr val="124E7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>
                <a:solidFill>
                  <a:srgbClr val="2B4150"/>
                </a:solidFill>
              </a:rPr>
              <a:t>Приложение проходит многоуровневое тестирование:</a:t>
            </a:r>
          </a:p>
          <a:p>
            <a:r>
              <a:rPr lang="ru-RU" dirty="0" smtClean="0">
                <a:solidFill>
                  <a:srgbClr val="2B4150"/>
                </a:solidFill>
              </a:rPr>
              <a:t>Юнит-тесты для ключевых модулей – работа с БД, </a:t>
            </a:r>
            <a:r>
              <a:rPr lang="ru-RU" dirty="0" err="1" smtClean="0">
                <a:solidFill>
                  <a:srgbClr val="2B4150"/>
                </a:solidFill>
              </a:rPr>
              <a:t>парсинг</a:t>
            </a:r>
            <a:r>
              <a:rPr lang="ru-RU" dirty="0" smtClean="0">
                <a:solidFill>
                  <a:srgbClr val="2B4150"/>
                </a:solidFill>
              </a:rPr>
              <a:t> погоды, сохранение метрик</a:t>
            </a:r>
          </a:p>
          <a:p>
            <a:r>
              <a:rPr lang="ru-RU" dirty="0" smtClean="0">
                <a:solidFill>
                  <a:srgbClr val="2B4150"/>
                </a:solidFill>
              </a:rPr>
              <a:t>Интеграционное тестирование – проверка взаимодействия клиента с сервером и API</a:t>
            </a:r>
          </a:p>
          <a:p>
            <a:r>
              <a:rPr lang="ru-RU" dirty="0" smtClean="0">
                <a:solidFill>
                  <a:srgbClr val="2B4150"/>
                </a:solidFill>
              </a:rPr>
              <a:t>Ручное тестирование – все основные сценарии пользователя: регистрация, вход, добавление шагов, воды, сна, достижение целей, синхронизация данных</a:t>
            </a:r>
            <a:endParaRPr lang="ru-RU" dirty="0">
              <a:solidFill>
                <a:srgbClr val="2B41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005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124E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Дальнейшее развитие</a:t>
            </a:r>
            <a:endParaRPr lang="ru-RU" dirty="0">
              <a:solidFill>
                <a:srgbClr val="124E7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>
                <a:solidFill>
                  <a:srgbClr val="2B4150"/>
                </a:solidFill>
              </a:rPr>
              <a:t>В планах – интеграция с </a:t>
            </a:r>
            <a:r>
              <a:rPr lang="ru-RU" dirty="0" err="1" smtClean="0">
                <a:solidFill>
                  <a:srgbClr val="2B4150"/>
                </a:solidFill>
              </a:rPr>
              <a:t>Yandex</a:t>
            </a:r>
            <a:r>
              <a:rPr lang="ru-RU" dirty="0" smtClean="0">
                <a:solidFill>
                  <a:srgbClr val="2B4150"/>
                </a:solidFill>
              </a:rPr>
              <a:t> GPT для персонализированных ИИ-рекомендаций. </a:t>
            </a:r>
            <a:r>
              <a:rPr lang="ru-RU" dirty="0" err="1" smtClean="0">
                <a:solidFill>
                  <a:srgbClr val="2B4150"/>
                </a:solidFill>
              </a:rPr>
              <a:t>Нейросеть</a:t>
            </a:r>
            <a:r>
              <a:rPr lang="ru-RU" dirty="0" smtClean="0">
                <a:solidFill>
                  <a:srgbClr val="2B4150"/>
                </a:solidFill>
              </a:rPr>
              <a:t> будет анализировать историю активности </a:t>
            </a:r>
            <a:r>
              <a:rPr lang="ru-RU" dirty="0" err="1" smtClean="0">
                <a:solidFill>
                  <a:srgbClr val="2B4150"/>
                </a:solidFill>
              </a:rPr>
              <a:t>польователя</a:t>
            </a:r>
            <a:r>
              <a:rPr lang="ru-RU" dirty="0" smtClean="0">
                <a:solidFill>
                  <a:srgbClr val="2B4150"/>
                </a:solidFill>
              </a:rPr>
              <a:t> и давать советы по улучшению здоровья.</a:t>
            </a:r>
          </a:p>
          <a:p>
            <a:pPr marL="0" indent="0">
              <a:buNone/>
            </a:pPr>
            <a:endParaRPr lang="ru-RU" dirty="0">
              <a:solidFill>
                <a:srgbClr val="2B415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476" y="4129631"/>
            <a:ext cx="8019048" cy="1121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379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949262"/>
            <a:ext cx="10515600" cy="1126901"/>
          </a:xfrm>
        </p:spPr>
        <p:txBody>
          <a:bodyPr>
            <a:normAutofit/>
          </a:bodyPr>
          <a:lstStyle/>
          <a:p>
            <a:pPr algn="ctr"/>
            <a:r>
              <a:rPr lang="ru-RU" sz="6000" dirty="0" smtClean="0">
                <a:solidFill>
                  <a:srgbClr val="124E73"/>
                </a:solidFill>
              </a:rPr>
              <a:t>Спасибо за внимание!</a:t>
            </a:r>
            <a:endParaRPr lang="ru-RU" sz="6000" dirty="0">
              <a:solidFill>
                <a:srgbClr val="124E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50026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455</Words>
  <Application>Microsoft Office PowerPoint</Application>
  <PresentationFormat>Широкоэкранный</PresentationFormat>
  <Paragraphs>34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Тема Office</vt:lpstr>
      <vt:lpstr>Health Sync «Дневник здоровья»</vt:lpstr>
      <vt:lpstr>Проблема</vt:lpstr>
      <vt:lpstr>Описание решения</vt:lpstr>
      <vt:lpstr>Технологии</vt:lpstr>
      <vt:lpstr>Хранение данных</vt:lpstr>
      <vt:lpstr>Сервер</vt:lpstr>
      <vt:lpstr>Клиент</vt:lpstr>
      <vt:lpstr>Интеграции</vt:lpstr>
      <vt:lpstr>Демонстрация</vt:lpstr>
      <vt:lpstr>Тестирование</vt:lpstr>
      <vt:lpstr>Дальнейшее развитие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Sync «Дневник здоровья»</dc:title>
  <dc:creator>Даниил Scorpion</dc:creator>
  <cp:lastModifiedBy>Даниил Scorpion</cp:lastModifiedBy>
  <cp:revision>10</cp:revision>
  <dcterms:created xsi:type="dcterms:W3CDTF">2026-05-27T09:04:33Z</dcterms:created>
  <dcterms:modified xsi:type="dcterms:W3CDTF">2026-05-27T11:00:18Z</dcterms:modified>
</cp:coreProperties>
</file>